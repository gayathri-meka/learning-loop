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The job of this bootcamp: turn 'it looks good' into a number you can defend, regress against, and block a deploy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FOUNDATIONS  ·  BOOTCAMP No.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783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Evaluation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02920" y="290779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C3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“looks good” to a production gate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8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 →  build  →  checkpoint        ·        grounded in Pulse &amp; SensAI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6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days, one through-line: make quality measurable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70048" cy="2468880"/>
          </a:xfrm>
          <a:prstGeom prst="roundRect">
            <a:avLst>
              <a:gd name="adj" fmla="val 2963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85623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220370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Eval Mindset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58952" y="269748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“it looks good” doesn’t scale. Golden datasets, the three scorer types, and the three places evals run.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4992" y="1600200"/>
            <a:ext cx="2670048" cy="2468880"/>
          </a:xfrm>
          <a:prstGeom prst="roundRect">
            <a:avLst>
              <a:gd name="adj" fmla="val 2963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21024" y="185623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21024" y="220370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Judge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21024" y="269748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LLM-as-judge: rubrics, pairwise vs single-answer, and the biases that quietly wreck your numbers.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27064" y="1600200"/>
            <a:ext cx="2670048" cy="2468880"/>
          </a:xfrm>
          <a:prstGeom prst="roundRect">
            <a:avLst>
              <a:gd name="adj" fmla="val 2963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83096" y="185623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83096" y="220370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83096" y="269748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suites in CI, RAG and agent metrics, online eval, and shipping the eval before the feature.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B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day moves one step from intuition toward infrastructure — from dumb-but-reliable assertions, to a model that grades other models, to an eval suite that actually gates a deploy.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6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reference systems run through every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8470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6424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— the RAG system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04088" y="2249424"/>
            <a:ext cx="3529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placement-tracking bot over candidate and role data. Our stand-in for “does the retrieved answer actually hold up?”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6459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8470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12664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SensAI — the tutor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910328" y="2249424"/>
            <a:ext cx="3529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explanations to learners. Our stand-in for “is this answer correct AND clear?” when there’s no single right answer.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329184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E2E0D9"/>
          </a:solidFill>
          <a:ln w="12700">
            <a:solidFill>
              <a:srgbClr val="D0CDC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3456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B9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THE CODE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77240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is illustrative pseudo-Python. The patterns transfer to whichever eval framework you adopt — DeepEval, Braintrust, LangSmith, Promptfoo, RAGAS, OpenAI Evals, or Inspect.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5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-640080"/>
            <a:ext cx="329184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0" dirty="0">
                <a:solidFill>
                  <a:srgbClr val="FFFFFF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938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5F3EE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 — FOUNDATIONS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2240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eval mindset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02920" y="3310128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3EE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tooling: why evaluating an LLM is unlike testing normal software, and the small set of ideas that make quality measurable at all.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“it looks good” stops working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82880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6424" y="1810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broken promises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04088" y="2231136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different output. And a change that fixes one case silently regresses ten others you weren’t watching.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627632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82880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12664" y="1810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isn’t one number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910328" y="2231136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but rude. Fluent but unfaithful. Helpful but leaking PII. A single score hides the failure you care about.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324612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ECEAE4"/>
          </a:solidFill>
          <a:ln w="25400">
            <a:solidFill>
              <a:srgbClr val="1A7A5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33924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MENTAL MODEL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31520" y="3648456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Evals are unit tests for non-deterministic systems. You can’t assert output == expected — so you assert it scores above a bar, on dimensions you chose in advance.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 · THE SHAPE OF EVERY EVAL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steps. Step 3 is where the design lives.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97510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3042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inputs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65960" y="202996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48840" y="182880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48840" y="197510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RUN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23042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under test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11880" y="202996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94760" y="182880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197510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23042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per dim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57800" y="202996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40680" y="182880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0680" y="197510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AGGREGATE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0680" y="23042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pass-rate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03720" y="202996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86600" y="1828800"/>
            <a:ext cx="1481328" cy="868680"/>
          </a:xfrm>
          <a:prstGeom prst="roundRect">
            <a:avLst>
              <a:gd name="adj" fmla="val 6316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86600" y="197510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2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DECIDE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86600" y="23042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ship? block?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28803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B9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failures feed back into the dataset  ⤷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42900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E2E0D9"/>
          </a:solidFill>
          <a:ln w="12700">
            <a:solidFill>
              <a:srgbClr val="D0CD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584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3886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set — fast iteration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00984" y="342900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E2E0D9"/>
          </a:solidFill>
          <a:ln w="12700">
            <a:solidFill>
              <a:srgbClr val="D0CD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83864" y="3584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83864" y="3886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— blocks bad merges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99048" y="342900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E2E0D9"/>
          </a:solidFill>
          <a:ln w="12700">
            <a:solidFill>
              <a:srgbClr val="D0CD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3584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81928" y="3886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prod traffic — catches drift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 · SCORING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scorer — in order of power and cost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82880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6424" y="18105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Deterministic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04088" y="2231136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checks: exact match, contains, regex, JSON-valid, latency. Cheap, fast, zero ambiguity — but needs a checkable answer.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73552" y="1627632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82880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77056" y="18105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Model-graded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474720" y="2231136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judge scores against your rubric — correctness, faithfulness, tone. Handles free text. The whole of Day 2.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44184" y="1627632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828800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47688" y="18105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Human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245352" y="2231136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 truth the others calibrate against. Expensive — spend it on a few hundred anchor labels.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502920" y="39776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4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 </a:t>
            </a:r>
            <a:pPr indent="0" marL="0">
              <a:buNone/>
            </a:pPr>
            <a:r>
              <a:rPr lang="en-US" sz="12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leaderboards (MMLU, LMArena) measure a bare model with a generic prompt — they say almost nothing about your system on your data. Build your own eval set.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 ·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first eval harness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074920" cy="3017520"/>
          </a:xfrm>
          <a:prstGeom prst="roundRect">
            <a:avLst>
              <a:gd name="adj" fmla="val 1818"/>
            </a:avLst>
          </a:prstGeom>
          <a:solidFill>
            <a:srgbClr val="211E1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938528"/>
            <a:ext cx="5074920" cy="0"/>
          </a:xfrm>
          <a:prstGeom prst="line">
            <a:avLst/>
          </a:prstGeom>
          <a:noFill/>
          <a:ln w="12700">
            <a:solidFill>
              <a:srgbClr val="343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934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eval_pulse_v0.py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2029968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golden dataset: inputs + acceptance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golden = [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3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{"q": "Who is placed at Acme?",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3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"must_contain": ["Priya","Marcus"]},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8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score(case, out):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ok = all(s in out for s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in case["must_contain"])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{"contains": ok,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"json": is_json(out)}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[score(c, pulse(c["q"]))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c in golden]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= mean([all(r.values()) for r in rows])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print(f"pass rate: {rate:.0%}")  # 1st number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52160" y="1554480"/>
            <a:ext cx="2788920" cy="3017520"/>
          </a:xfrm>
          <a:prstGeom prst="roundRect">
            <a:avLst>
              <a:gd name="adj" fmla="val 1967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08076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9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TO OBSERVE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80760" y="21031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 a free-text question — “summarize Priya’s history” — and watch must_contain fail on a perfectly good answer that just phrases things differently.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brittleness is the wall every team hits. It’s what Day 2 exists to solve.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 · CHECKPOINT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922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UNDERSTAND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21284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A7A5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9848" y="21579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non-determinism &amp; regression make eyeballing fail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A7A5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249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" y="26883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five-step eval loop — scoring is the design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2735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A7A5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5526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" y="3218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vs CI vs online, and what each catches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80390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A7A5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8561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9848" y="3749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scorer types and when each applies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155448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7922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YOU’VE BUILT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21284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A7A5E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19456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30368" y="21579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golden dataset with inputs + acceptance criteria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37760" y="27432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A7A5E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7249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30368" y="26883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scorers (contains, JSON-valid)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37760" y="32735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A7A5E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25526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30368" y="3218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run-and-aggregate loop producing a pass rate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37760" y="380390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A7A5E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78561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30368" y="3749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exact-match break on free text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74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-640080"/>
            <a:ext cx="329184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0" dirty="0">
                <a:solidFill>
                  <a:srgbClr val="FFFFFF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938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5F3EE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 — AUTOMATION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2240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judge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02920" y="3310128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3EE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there’s no single right answer, you grade with another model. The workhorse of modern evaluation — and the one most teams get subtly wrong.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 · 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Letting a model grade a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468880" cy="2103120"/>
          </a:xfrm>
          <a:prstGeom prst="roundRect">
            <a:avLst>
              <a:gd name="adj" fmla="val 3478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9202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7A6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~85%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judge–human agreement — often higher than two humans agree with each other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691640"/>
            <a:ext cx="5440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 strong model with your criteria and have it score the output. The bet is empirical and it mostly holds — good enough to run at a scale no human panel could touch.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0" y="278892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ECEAE4"/>
          </a:solidFill>
          <a:ln w="25400">
            <a:solidFill>
              <a:srgbClr val="7A62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9352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MENTAL MODEL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29000" y="3191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judge is part of your system under test. Before it grades your app, you grade the judge — against humans, on your data.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 · FRAMING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ask the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82880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6424" y="18105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Single-answer grading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04088" y="2231136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+ rubric → score 1–5. Absolute and scalable, but scores can drift over time.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73552" y="1627632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82880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77056" y="18105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comparison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474720" y="2231136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vs B → which is better? The most reliable mode for “did version B regress?”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44184" y="1627632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828800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47688" y="18105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Reference-based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245352" y="2231136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vs a gold answer. Strongest signal — but you need a gold answer to compare against.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502920" y="41605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B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Reference-free (the first two) scales without gold answers; reference-based is most precise when you have them.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 · THE CATCH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judge’s biases — measured, repeatable, large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977640" cy="1371600"/>
          </a:xfrm>
          <a:prstGeom prst="roundRect">
            <a:avLst>
              <a:gd name="adj" fmla="val 4667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465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Favors whichever answer is shown first (~60%). Swapping can flip ~40% of verdicts.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6243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run both orders, average.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600200"/>
            <a:ext cx="3977640" cy="1371600"/>
          </a:xfrm>
          <a:prstGeom prst="roundRect">
            <a:avLst>
              <a:gd name="adj" fmla="val 4667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7465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Verbosity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92040" y="20574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answers score higher regardless of quality.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92040" y="26243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penalize length in the rubric.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136392"/>
            <a:ext cx="3977640" cy="1371600"/>
          </a:xfrm>
          <a:prstGeom prst="roundRect">
            <a:avLst>
              <a:gd name="adj" fmla="val 4667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2826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Self-preference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359359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Favors outputs from its own model family.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4160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judge with a different model.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3136392"/>
            <a:ext cx="3977640" cy="1371600"/>
          </a:xfrm>
          <a:prstGeom prst="roundRect">
            <a:avLst>
              <a:gd name="adj" fmla="val 4667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2826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Sycophancy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92040" y="359359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Over-accepts plausible-looking output without scrutiny.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4160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reason before scoring; demand evidence.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 ·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LLM judge with a rubric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074920" cy="3017520"/>
          </a:xfrm>
          <a:prstGeom prst="roundRect">
            <a:avLst>
              <a:gd name="adj" fmla="val 1818"/>
            </a:avLst>
          </a:prstGeom>
          <a:solidFill>
            <a:srgbClr val="211E1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938528"/>
            <a:ext cx="5074920" cy="0"/>
          </a:xfrm>
          <a:prstGeom prst="line">
            <a:avLst/>
          </a:prstGeom>
          <a:noFill/>
          <a:ln w="12700">
            <a:solidFill>
              <a:srgbClr val="343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934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judge_sensai.py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2029968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reason-before-score (the G-Eval pattern)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3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 = """Grade a tutoring answer.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3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correctness (1-5), clarity (1-5).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3B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Reason step by step, THEN output JSON."""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8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judge(q, a, model="different-model"):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parse(llm(model,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f"{JUDGE}\nQ:{q}\nA:{a}"))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cancel position bias: both orders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8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pairwise(q, a, b):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tie_if_flip(judge_pair(q,a,b),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judge_pair(q,b,a))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validate BEFORE trusting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correlate(judge_all(labeled), h) &gt; .8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52160" y="1554480"/>
            <a:ext cx="2788920" cy="3017520"/>
          </a:xfrm>
          <a:prstGeom prst="roundRect">
            <a:avLst>
              <a:gd name="adj" fmla="val 1967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08076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9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TO OBSERVE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80760" y="21031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pairwise without the swap and you get a confident winner. Add the swap and a chunk of those “wins” become ties — that’s position bias you were about to ship as signal.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feed it a padded, waffly answer and watch verbosity bias inflate the score.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02 · CHECKPOINT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922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A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UNDERSTAND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21284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7A62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9848" y="21579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LLM-as-judge works, and the ~85% agreement bet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7A620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249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" y="26883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Single-answer vs pairwise vs reference-based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2735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7A620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5526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" y="3218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judge biases by name, and their fixes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80390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7A620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8561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9848" y="3749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calibrate a judge against humans first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155448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7922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A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YOU’VE BUILT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21284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7A620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19456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30368" y="21579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reason-before-score rubric judge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37760" y="27432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7A6200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7249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30368" y="26883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position-swap helper for pairwise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37760" y="32735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7A6200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25526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30368" y="3218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calibration check against human labels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37760" y="380390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7A6200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78561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30368" y="3749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position &amp; verbosity bias move scores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8C3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-640080"/>
            <a:ext cx="329184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0" dirty="0">
                <a:solidFill>
                  <a:srgbClr val="FFFFFF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938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5F3EE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 — PRODUCTION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2240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02920" y="3310128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3EE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 in a notebook changes nothing. The payoff is an eval that runs in CI, blocks a bad deploy, and watches live traffic — plus the metrics specific to RAG and agents.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 · EVAL-DRIVEN DEVELOPMENT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the eval before the feature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A2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prompt or model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80360" y="2011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B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C0450E"/>
          </a:solidFill>
          <a:ln w="12700">
            <a:solidFill>
              <a:srgbClr val="C0450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 GATE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eval suite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60720" y="2011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B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A2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eval on traffic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80360" y="16184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7A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807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 → block the merge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1089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B9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⤷  surprising failures feed back into the golden dataset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61188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25400">
            <a:solidFill>
              <a:srgbClr val="C045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758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MENTAL MODEL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01421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eval set IS the spec. If you can’t write a test that tells you it’s working, you don’t yet know what “working” means.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 ·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that fit the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7393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6424" y="17556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faithfulness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04088" y="2176272"/>
            <a:ext cx="3575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claim supported by the retrieved context? Catches hallucination even when the answer “sounds right.”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63440" y="1572768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77393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66944" y="17556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context precision/recall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864608" y="2176272"/>
            <a:ext cx="3575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retrieval surface the right chunks (recall) without burying them in junk (precision)?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3035808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23697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06424" y="32186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success + trajectory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04088" y="3639312"/>
            <a:ext cx="3575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reach the goal AND take a sound path of tool calls? A right answer via a broken path is a latent failure.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663440" y="3035808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3697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66944" y="32186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pass^k consistency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864608" y="3639312"/>
            <a:ext cx="3575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 times. pass^1 is “can it”; pass^k is “can it reliably.” The gap is often 15–25 points.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02920" y="449884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4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the eval set:  </a:t>
            </a:r>
            <a:pPr indent="0" marL="0"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examples leak into training, scores inflate — contamination is why leaderboards run 5–15 points high. Hold out, version, report a confidence interval.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 ·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eval suite that gates the deploy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074920" cy="3017520"/>
          </a:xfrm>
          <a:prstGeom prst="roundRect">
            <a:avLst>
              <a:gd name="adj" fmla="val 1818"/>
            </a:avLst>
          </a:prstGeom>
          <a:solidFill>
            <a:srgbClr val="211E1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938528"/>
            <a:ext cx="5074920" cy="0"/>
          </a:xfrm>
          <a:prstGeom prst="line">
            <a:avLst/>
          </a:prstGeom>
          <a:noFill/>
          <a:ln w="12700">
            <a:solidFill>
              <a:srgbClr val="343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934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test_pulse_eval.py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2029968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runs in CI. failing assert = blocked merge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THRESHOLDS = {"faithfulness": 0.90}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8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test_pulse_faithfulness():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 = []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08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c in golden_rag: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ans, ctx = pulse_ctx(c["q"])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s.append(faithfulness(ans, ctx))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 mean(s) &gt;= 0.90, "below bar"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8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test_consistency():      # pass^k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oks = [succeeds(task)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for _ in range(5)]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8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 all(oks), "flaky in prod"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52160" y="1554480"/>
            <a:ext cx="2788920" cy="3017520"/>
          </a:xfrm>
          <a:prstGeom prst="roundRect">
            <a:avLst>
              <a:gd name="adj" fmla="val 1967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08076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9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TO OBSERVE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80760" y="21031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answer that’s fluent and wrong — confidently citing a placement that isn’t in the context — and watch faithfulness catch what a generic “quality” score waves through.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watch the consistency test go red even though the task “works” once by hand.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03 · CHECKPOINT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922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UNDERSTAND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21284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0450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9848" y="21579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Eval-driven development: the eval is the spec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0450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249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" y="26883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→ CI → online, and how the loop closes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2735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0450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5526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" y="3218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metrics (faithfulness, context precision/recall)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80390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0450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8561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9848" y="3749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metrics (success, trajectory, pass^k) &amp; contamination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155448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79222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045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YOU’VE BUILT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21284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0450E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19456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30368" y="21579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 suite with thresholds that block merges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37760" y="27432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0450E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7249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30368" y="26883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faithfulness gate for Pulse RAG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37760" y="3273552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0450E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25526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30368" y="3218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pass^k consistency check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37760" y="380390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0450E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78561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30368" y="3749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C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a fluent-but-wrong answer get caught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6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INTERVIEW PREP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it like someone who’s shipped evals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68249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right answer — how do you evaluate it?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up the scorer ladder: deterministic where I can, then an LLM-judge with a rubric calibrated against ~100 human labels. Score dimensions separately; report pass-rates with a confidence interval.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77977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judge says B is better. Why might you not trust it?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bias — swap order, re-run; if it flips, it’s a tie. Plus verbosity and self-preference. And was it ever calibrated against humans? Until then it’s a confident guess.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74904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87705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scores 90% on a benchmark — so what?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8952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it looks: contamination inflates ~5–15 pts, and it’s a bare model, not my system. pass^1 isn’t pass^k — 90% capability can be ~70% reliability in prod.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6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7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one-page cheat sheet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977640" cy="1417320"/>
          </a:xfrm>
          <a:prstGeom prst="roundRect">
            <a:avLst>
              <a:gd name="adj" fmla="val 4516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190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6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SCORER TYPES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match, contains, regex, JSON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Model-graded — LLM judge + rubric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— ground truth; calibrates the rest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572768"/>
            <a:ext cx="3977640" cy="1417320"/>
          </a:xfrm>
          <a:prstGeom prst="roundRect">
            <a:avLst>
              <a:gd name="adj" fmla="val 4516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7190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6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EVALS RUN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92040" y="20116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curated set, fast iteration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same suite, gates the merge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— sampled traffic, catches drift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154680"/>
            <a:ext cx="3977640" cy="1417320"/>
          </a:xfrm>
          <a:prstGeom prst="roundRect">
            <a:avLst>
              <a:gd name="adj" fmla="val 4516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3009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6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 BIAS CHECKLIST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59359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→ swap order, average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Verbosity → penalize length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Self-preference → different judge model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Sycophancy → reason before scoring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3154680"/>
            <a:ext cx="3977640" cy="1417320"/>
          </a:xfrm>
          <a:prstGeom prst="roundRect">
            <a:avLst>
              <a:gd name="adj" fmla="val 4516"/>
            </a:avLst>
          </a:prstGeom>
          <a:solidFill>
            <a:srgbClr val="ECEAE4"/>
          </a:solidFill>
          <a:ln w="12700">
            <a:solidFill>
              <a:srgbClr val="D0CDC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3009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6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SYSTEM-SPECIFIC METRICS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359359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faithfulness, context prec/recall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success, trajectory, pass^k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— multidimensional + CI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1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THROUGH-LINE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becomes a gate,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vibe.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3383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C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where you can · a calibrated judge where you can’t · a CI suite that blocks the bad deploy · online eval that closes the loop.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— Deliverable #2: the researched story of how evaluation became the hardest, most valuable discipline in applied AI.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Evaluation Bootcamp</dc:title>
  <dc:subject>PptxGenJS Presentation</dc:subject>
  <dc:creator>AI Foundations Bootcamp</dc:creator>
  <cp:lastModifiedBy>AI Foundations Bootcamp</cp:lastModifiedBy>
  <cp:revision>1</cp:revision>
  <dcterms:created xsi:type="dcterms:W3CDTF">2026-06-19T20:51:51Z</dcterms:created>
  <dcterms:modified xsi:type="dcterms:W3CDTF">2026-06-19T20:51:51Z</dcterms:modified>
</cp:coreProperties>
</file>