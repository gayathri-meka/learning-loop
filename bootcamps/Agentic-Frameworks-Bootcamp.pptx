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3-DAY INTENSIVE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325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Systems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86384" y="20574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Bootcamp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9077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8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Tool-Caller to Multi-Agent Architect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8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from the bare metal up — the loop, design patterns, LangGraph orchestration, the MCP and A2A protocols, and a working multi-agent system you can demo.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077517" cy="365760"/>
          </a:xfrm>
          <a:prstGeom prst="roundRect">
            <a:avLst>
              <a:gd name="adj" fmla="val 50000"/>
            </a:avLst>
          </a:prstGeom>
          <a:ln w="12700">
            <a:solidFill>
              <a:srgbClr val="3FA5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20775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 + LangGraph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6781" y="4114800"/>
            <a:ext cx="1068019" cy="365760"/>
          </a:xfrm>
          <a:prstGeom prst="roundRect">
            <a:avLst>
              <a:gd name="adj" fmla="val 50000"/>
            </a:avLst>
          </a:prstGeom>
          <a:ln w="12700">
            <a:solidFill>
              <a:srgbClr val="4A46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6781" y="4114800"/>
            <a:ext cx="1068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+ A2A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4114800"/>
            <a:ext cx="815645" cy="365760"/>
          </a:xfrm>
          <a:prstGeom prst="roundRect">
            <a:avLst>
              <a:gd name="adj" fmla="val 50000"/>
            </a:avLst>
          </a:prstGeom>
          <a:ln w="12700">
            <a:solidFill>
              <a:srgbClr val="4A4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4114800"/>
            <a:ext cx="8156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23053" y="4114800"/>
            <a:ext cx="815645" cy="365760"/>
          </a:xfrm>
          <a:prstGeom prst="roundRect">
            <a:avLst>
              <a:gd name="adj" fmla="val 50000"/>
            </a:avLst>
          </a:prstGeom>
          <a:ln w="12700">
            <a:solidFill>
              <a:srgbClr val="4A4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3053" y="4114800"/>
            <a:ext cx="8156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Python · LangChain · LangGraph · MCP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 · 3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loop to a multi-agent system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676656" cy="676656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712" y="2082272"/>
            <a:ext cx="297729" cy="2977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974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" y="29352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41248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is, the Reason–Act–Observe loop, and the design patterns. Build a bare-metal agent.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160020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1892808"/>
            <a:ext cx="676656" cy="676656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56" y="2082272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6974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93592" y="29352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3593592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raw loop breaks. LangChain vs LangGraph: state, graphs, checkpoints, human-in-the-loop.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71616" y="1600200"/>
            <a:ext cx="2542032" cy="2606040"/>
          </a:xfrm>
          <a:prstGeom prst="roundRect">
            <a:avLst>
              <a:gd name="adj" fmla="val 287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45936" y="1892808"/>
            <a:ext cx="676656" cy="676656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400" y="2082272"/>
            <a:ext cx="297729" cy="2977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69748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45936" y="29352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6345936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and A2A protocols, multi-agent architectures, and a supervisor system you can demo.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PYTHON · LANGCHAIN · LANGGRAPH · MCP · A2A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START ·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this once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572000" cy="2907792"/>
          </a:xfrm>
          <a:prstGeom prst="roundRect">
            <a:avLst>
              <a:gd name="adj" fmla="val 2516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4114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agentic-bootcamp &amp;&amp; cd agentic-bootcamp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langchain langchain-openai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langgraph langgraph-supervisor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"mcp[cli]" python-dotenv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-&gt;  OPENAI_API_KEY=your_key_here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21808" y="1572768"/>
            <a:ext cx="3255264" cy="1783080"/>
          </a:xfrm>
          <a:prstGeom prst="roundRect">
            <a:avLst>
              <a:gd name="adj" fmla="val 4103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59552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59552" y="2048256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agentic-bootcamp/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day1_agent.py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day2_graph.py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day3_mcp_server.py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day3_multiagent.py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21808" y="3474720"/>
            <a:ext cx="3255264" cy="1005840"/>
          </a:xfrm>
          <a:prstGeom prst="roundRect">
            <a:avLst>
              <a:gd name="adj" fmla="val 7273"/>
            </a:avLst>
          </a:prstGeom>
          <a:solidFill>
            <a:srgbClr val="E3EFE9"/>
          </a:solidFill>
          <a:ln w="12700">
            <a:solidFill>
              <a:srgbClr val="CBE0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59552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PREREQUISITE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59552" y="38587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calling an LLM API and have seen tool calling once. Did the RAG bootcamp? You're set.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640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77824" y="2935224"/>
            <a:ext cx="109728" cy="109728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37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is, and why they exist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7824" y="3355848"/>
            <a:ext cx="109728" cy="109728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2644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→ Act → Observe loop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" y="3776472"/>
            <a:ext cx="109728" cy="109728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850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 agentic design patterns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7824" y="4197096"/>
            <a:ext cx="109728" cy="109728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056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bare-metal agent, no framework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1.1 · WHAT IS AN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that can act, observe, and retry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46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alone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text-in, text-out. It can't act, fetch fresh data, or notice its own mistakes. It predicts tokens and stops.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63347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augmented LLM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a loop and give it tools. Now it can decide on an action, see the result, and decide what to do next.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63931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runs predefined code paths you wrote. An agent dynamically directs its own process and tool 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21808" y="1627632"/>
            <a:ext cx="3255264" cy="3035808"/>
          </a:xfrm>
          <a:prstGeom prst="roundRect">
            <a:avLst>
              <a:gd name="adj" fmla="val 2410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240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i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 is a recipe — fixed steps in a fixed order.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57784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i="1" dirty="0">
                <a:solidFill>
                  <a:srgbClr val="A8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a cook who tastes the dish and decides what to do next.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57784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8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recipe when you can. Hire a cook when you can't.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LLM + TOOLS + LOOP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1.2 · THE AGENT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is the same loop underneath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603504" cy="603504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29" y="2226381"/>
            <a:ext cx="265542" cy="2655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05456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27523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3081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thinks: what do I need to do next?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18104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9272" y="178308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057400"/>
            <a:ext cx="603504" cy="603504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73" y="2226381"/>
            <a:ext cx="265542" cy="2655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93592" y="27523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93592" y="3081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a tool call to take an action.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870448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71616" y="1783080"/>
            <a:ext cx="2542032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45936" y="2057400"/>
            <a:ext cx="603504" cy="603504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17" y="2226381"/>
            <a:ext cx="265542" cy="2655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10144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8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45936" y="27523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45936" y="3081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runs; the result returns to the model.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3968496"/>
            <a:ext cx="8010144" cy="658368"/>
          </a:xfrm>
          <a:prstGeom prst="roundRect">
            <a:avLst>
              <a:gd name="adj" fmla="val 11111"/>
            </a:avLst>
          </a:prstGeom>
          <a:solidFill>
            <a:srgbClr val="E3EFE9"/>
          </a:solidFill>
          <a:ln w="12700">
            <a:solidFill>
              <a:srgbClr val="CBE0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68680" y="396849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done?  </a:t>
            </a:r>
            <a:pPr indent="0" marL="0">
              <a:buNone/>
            </a:pPr>
            <a:r>
              <a:rPr lang="en-US" sz="12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REASON.   </a:t>
            </a:r>
            <a:pPr indent="0" marL="0">
              <a:buNone/>
            </a:pPr>
            <a:r>
              <a:rPr lang="en-US" sz="12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</a:t>
            </a:r>
            <a:pPr indent="0" marL="0">
              <a:buNone/>
            </a:pPr>
            <a:r>
              <a:rPr lang="en-US" sz="12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pPr indent="0" marL="0">
              <a:buNone/>
            </a:pPr>
            <a:r>
              <a:rPr lang="en-US" sz="12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 (Reason + Act, 2022) — nearly every framework wraps it.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 · ACT · OBSERVE · REPEAT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1.3 · DESIGN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pattern families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005072" cy="3063240"/>
          </a:xfrm>
          <a:prstGeom prst="roundRect">
            <a:avLst>
              <a:gd name="adj" fmla="val 238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PATTERNS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control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384048" cy="38404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781" y="2503261"/>
            <a:ext cx="168981" cy="16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2377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call feeds the next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2843784"/>
            <a:ext cx="384048" cy="38404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81" y="2951317"/>
            <a:ext cx="168981" cy="1689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35024" y="28254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send to a specialized path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1248" y="3291840"/>
            <a:ext cx="384048" cy="38404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781" y="3399373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5024" y="32735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subtasks at once, aggregate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41248" y="3739896"/>
            <a:ext cx="384048" cy="38404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81" y="3847429"/>
            <a:ext cx="168981" cy="1689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5024" y="37216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Orchestrator–workers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splits work, then synthesizes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41248" y="4187952"/>
            <a:ext cx="384048" cy="38404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781" y="4295485"/>
            <a:ext cx="168981" cy="16898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35024" y="4169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Evaluator–optimizer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critique, loop till good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754880" y="1600200"/>
            <a:ext cx="3822192" cy="3063240"/>
          </a:xfrm>
          <a:prstGeom prst="roundRect">
            <a:avLst>
              <a:gd name="adj" fmla="val 238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010912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PATTERNS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010912" y="20482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owns the control flow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029200" y="2432304"/>
            <a:ext cx="402336" cy="402336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1854" y="2544958"/>
            <a:ext cx="177028" cy="1770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59552" y="2414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its own output and revise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029200" y="2967228"/>
            <a:ext cx="402336" cy="402336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1854" y="3079882"/>
            <a:ext cx="177028" cy="17702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59552" y="29489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functions to act on the world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029200" y="3502152"/>
            <a:ext cx="402336" cy="402336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854" y="3614806"/>
            <a:ext cx="177028" cy="17702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559552" y="3483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goal into sequenced steps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5029200" y="4037076"/>
            <a:ext cx="402336" cy="402336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1854" y="4149730"/>
            <a:ext cx="177028" cy="17702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559552" y="40187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</a:t>
            </a:r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divide the labor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THE SIMPLEST THING THAT WORKS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1.4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day1_agent.py — the loop by hand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EFEDE6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1051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tool is just a python function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get_weather(city):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run_agent(user_input):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msgs = [{"role":"user","content":user_input}]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client.chat.completions.create(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messages=msgs, tools=tools)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resp.choices[0].message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msgs.append(msg)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msg.tool_calls:        # done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msg.content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call in msg.tool_calls:   # act + observe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get_weather(**args)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msgs.append({"role":"tool",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"tool_call_id": call.id,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"content": result})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79008" y="1600200"/>
            <a:ext cx="2798064" cy="3063240"/>
          </a:xfrm>
          <a:prstGeom prst="roundRect">
            <a:avLst>
              <a:gd name="adj" fmla="val 2614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16752" y="1810512"/>
            <a:ext cx="457200" cy="4572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9385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OBSERVE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2487168"/>
            <a:ext cx="91440" cy="91440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1" name="Text 8"/>
          <p:cNvSpPr/>
          <p:nvPr/>
        </p:nvSpPr>
        <p:spPr>
          <a:xfrm>
            <a:off x="6236208" y="2377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to call get_weather — you never told it 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035808"/>
            <a:ext cx="91440" cy="91440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208" y="2926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ends when the model stops emitting tool calls.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584448"/>
            <a:ext cx="91440" cy="91440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5" name="Text 12"/>
          <p:cNvSpPr/>
          <p:nvPr/>
        </p:nvSpPr>
        <p:spPr>
          <a:xfrm>
            <a:off x="6236208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while-True with a "no tool calls" exit IS the agent.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4133088"/>
            <a:ext cx="91440" cy="91440"/>
          </a:xfrm>
          <a:prstGeom prst="ellipse">
            <a:avLst/>
          </a:prstGeom>
          <a:solidFill>
            <a:srgbClr val="3FA585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4023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2–3 make this loop stateful, controllable, connectable.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 IS THE AGENT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640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77824" y="29352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37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bare-metal loop breaks at scale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7824" y="335584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2644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the toolkit vs LangGraph the engine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" y="37764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850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 — the graph model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7824" y="419709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056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stateful agent that remembers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2.1 · LIMITS OF THE RAW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the hand-rolled loop can't 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566928" cy="56692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00" y="206069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persistent state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starts from zero. Nothing is remembered across turns, calls, or sessions without you wiring it by hand.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817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901952"/>
            <a:ext cx="566928" cy="566928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00" y="206069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058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human in the loop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on every decision immediately. There's no clean place to pause for approval before a risky action.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410712"/>
            <a:ext cx="566928" cy="566928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00" y="356945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10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 control flow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hard-coded while-loop. Branching, routing, and retries all collapse into tangled if-statements.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817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10712"/>
            <a:ext cx="566928" cy="566928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00" y="356945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058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resume or recovery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mid-task and there's no checkpoint to restart from. You re-run the entire job from the beginning.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FRAMEWORKS EXIST TO SOLVE EXACTLY THESE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2.2 · TWO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is the parts. LangGraph is the engine.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913632" cy="3017520"/>
          </a:xfrm>
          <a:prstGeom prst="roundRect">
            <a:avLst>
              <a:gd name="adj" fmla="val 2424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83664"/>
            <a:ext cx="548640" cy="548640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03728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17904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TOOLKIT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" y="2807208"/>
            <a:ext cx="91440" cy="91440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wrappers — one interface for every provider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77824" y="3264408"/>
            <a:ext cx="91440" cy="91440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31638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retrievers, output parsers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3721608"/>
            <a:ext cx="91440" cy="91440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3621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chains: linear, composable pipelines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4178808"/>
            <a:ext cx="91440" cy="91440"/>
          </a:xfrm>
          <a:prstGeom prst="ellipse">
            <a:avLst/>
          </a:prstGeom>
          <a:solidFill>
            <a:srgbClr val="1A7355"/>
          </a:solidFill>
          <a:ln/>
        </p:spPr>
      </p:sp>
      <p:sp>
        <p:nvSpPr>
          <p:cNvPr id="16" name="Text 13"/>
          <p:cNvSpPr/>
          <p:nvPr/>
        </p:nvSpPr>
        <p:spPr>
          <a:xfrm>
            <a:off x="1078992" y="40782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 single pass: prompt → model → parse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1627632"/>
            <a:ext cx="3913632" cy="3017520"/>
          </a:xfrm>
          <a:prstGeom prst="roundRect">
            <a:avLst>
              <a:gd name="adj" fmla="val 2424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883664"/>
            <a:ext cx="548640" cy="54864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379" y="2037283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14416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5614416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ORCHESTRATION LAYER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974336" y="28072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19"/>
          <p:cNvSpPr/>
          <p:nvPr/>
        </p:nvSpPr>
        <p:spPr>
          <a:xfrm>
            <a:off x="5175504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graph of nodes and edges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974336" y="32644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1"/>
          <p:cNvSpPr/>
          <p:nvPr/>
        </p:nvSpPr>
        <p:spPr>
          <a:xfrm>
            <a:off x="5175504" y="31638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Cycles, branching, and conditional routing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974336" y="37216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3"/>
          <p:cNvSpPr/>
          <p:nvPr/>
        </p:nvSpPr>
        <p:spPr>
          <a:xfrm>
            <a:off x="5175504" y="3621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→ memory, resume, human-in-loop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974336" y="41788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5"/>
          <p:cNvSpPr/>
          <p:nvPr/>
        </p:nvSpPr>
        <p:spPr>
          <a:xfrm>
            <a:off x="5175504" y="40782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agents and multi-agent systems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LANGCHAIN'S PARTS INSIDE LANGGRAPH'S ENGINE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2.3 · THE GRAPH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and you can read any LangGraph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566928" cy="56692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00" y="206069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object — usually a TypedDict — that flows through the graph. Every node reads it and writes back to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817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901952"/>
            <a:ext cx="566928" cy="566928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00" y="206069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058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functions that do the work: call a model, run a tool, transform the state, and return an update.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410712"/>
            <a:ext cx="566928" cy="566928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00" y="356945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10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nodes together. Conditional edges route on the current state, so the graph can branch — and cycle back.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817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10712"/>
            <a:ext cx="566928" cy="566928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00" y="356945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058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state after every step. This is what unlocks memory, human-in-the-loop, and crash recovery.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 GIVES YOU ALL FOUR FOR FREE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7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2.4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day2_graph.py — an agent that remembers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EFEDE6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1051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langgraph.prebuilt import create_react_agent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langgraph.checkpoint.memory import InMemorySaver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model="openai:gpt-4o-mini",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tools=[get_weather],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checkpointer=InMemorySaver(),   # memory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 = {"configurable": {"thread_id": "1"}}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turn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agent.invoke({"messages":[{"role":"user",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"content":"Weather in Paris?"}]}, cfg)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thread_id -&gt; it remembers "Paris"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agent.invoke({"messages":[{"role":"user",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"content":"And tomorrow?"}]}, cfg)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5779008" y="1600200"/>
            <a:ext cx="2798064" cy="3063240"/>
          </a:xfrm>
          <a:prstGeom prst="roundRect">
            <a:avLst>
              <a:gd name="adj" fmla="val 2614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16752" y="1810512"/>
            <a:ext cx="457200" cy="4572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9385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OBSERVE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248716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6236208" y="2377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is now one function call, not a while-True.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03580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208" y="2926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is the memory key — reuse it to continue a conversation.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58444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6236208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checkpointer persists state between invokes.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4133088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4023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InMemorySaver for SQLite/Postgres to survive restarts.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+ CHECKPOINTER = MEMORY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640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77824" y="2935224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37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interoperability problem: tools and peers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7824" y="3355848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264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one protocol to connect agents to tools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" y="3776472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850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agents discovering and calling agents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7824" y="4197096"/>
            <a:ext cx="109728" cy="109728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0565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supervisor over two specialist 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3.2 · MODEL CONTEXT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the USB-C port for tools &amp; data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475488" cy="475488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98022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65376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app (Claude, an IDE, your agent) the user talks to.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18104" y="203911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19272" y="1627632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47088"/>
            <a:ext cx="475488" cy="475488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153" y="1980225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42232" y="1865376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57016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host; holds one dedicated connection per server.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70448" y="203911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071616" y="1627632"/>
            <a:ext cx="2542032" cy="1280160"/>
          </a:xfrm>
          <a:prstGeom prst="roundRect">
            <a:avLst>
              <a:gd name="adj" fmla="val 5714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847088"/>
            <a:ext cx="475488" cy="475488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497" y="1980225"/>
            <a:ext cx="209215" cy="209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94576" y="1865376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09360" y="23957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exposing tools, data, and prompts over the protocol.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66928" y="3127248"/>
            <a:ext cx="3913632" cy="1481328"/>
          </a:xfrm>
          <a:prstGeom prst="roundRect">
            <a:avLst>
              <a:gd name="adj" fmla="val 493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EXPOSES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22960" y="35844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model-callable actions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readable data / context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reusable templates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63440" y="3127248"/>
            <a:ext cx="3913632" cy="1481328"/>
          </a:xfrm>
          <a:prstGeom prst="roundRect">
            <a:avLst>
              <a:gd name="adj" fmla="val 4938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919472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OFFERS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919472" y="35844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 asks host's LLM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scoped filesystem access  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server asks the user input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 FOR LOCAL · STREAMABLE HTTP FOR REMOTE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3.3 · AGENT-TO-AGENT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A2A: how agents find and call each other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publishes an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signed JSON manifest at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/.well-known/agent.json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declaring its identity and skills. Others discover it, then exchange tasks over JSON-RPC.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66544"/>
          <a:ext cx="8010144" cy="914400"/>
        </p:xfrm>
        <a:graphic>
          <a:graphicData uri="http://schemas.openxmlformats.org/drawingml/2006/table">
            <a:tbl>
              <a:tblPr/>
              <a:tblGrid>
                <a:gridCol w="2157984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74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→ tools &amp;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→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can I use?”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can help?”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/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Agent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 (AAIF)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5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 — production stacks run both.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TOOLS · A2A = TEAMMATES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3.4 · MULTI-AGENT ARCHITECTURES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shapes for wiring agents together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566928" cy="566928"/>
          </a:xfrm>
          <a:prstGeom prst="ellipse">
            <a:avLst/>
          </a:prstGeom>
          <a:solidFill>
            <a:srgbClr val="E3EF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00" y="2060692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routes each task to the right specialist and synthesizes results. Centralized, easy to reason about.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81728" y="164592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901952"/>
            <a:ext cx="566928" cy="566928"/>
          </a:xfrm>
          <a:prstGeom prst="ellipse">
            <a:avLst/>
          </a:prstGeom>
          <a:solidFill>
            <a:srgbClr val="EFE8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00" y="206069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05856" y="18836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52374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directly to one another as peers. Decentralized, flexible, no single coordinator.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410712"/>
            <a:ext cx="566928" cy="566928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00" y="3569452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10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of supervisors. Teams of agents nested into a tree when one layer isn't enough.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81728" y="3154680"/>
            <a:ext cx="3913632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410712"/>
            <a:ext cx="566928" cy="566928"/>
          </a:xfrm>
          <a:prstGeom prst="ellipse">
            <a:avLst/>
          </a:prstGeom>
          <a:solidFill>
            <a:srgbClr val="E0E8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00" y="3569452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05856" y="33924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4032504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sequence of agents, each transforming the work. Predictable, assembly-line flow.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SUPERVISOR — ADD STRUCTURE ONLY WHEN NEEDED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3.5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day3_multiagent.py — a supervisor team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EFEDE6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81051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langgraph_supervisor import create_supervisor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langgraph.prebuilt import create_react_agent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 = create_react_agent(model, tools=[add, multiply],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name="math_expert",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prompt="You are a math expert.")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= create_react_agent(model, tools=[web_search],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name="research_expert",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prompt="You look up facts.")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create_supervisor(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[math, research], model=model,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prompt="Route to the right expert.",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).compile()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app.invoke({"messages":[{"role":"user",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A36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"content":"France GDP times two?"}]})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5779008" y="1600200"/>
            <a:ext cx="2798064" cy="3063240"/>
          </a:xfrm>
          <a:prstGeom prst="roundRect">
            <a:avLst>
              <a:gd name="adj" fmla="val 2614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16752" y="1810512"/>
            <a:ext cx="457200" cy="457200"/>
          </a:xfrm>
          <a:prstGeom prst="ellipse">
            <a:avLst/>
          </a:prstGeom>
          <a:solidFill>
            <a:srgbClr val="2A26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9385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IT ROUTE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2487168"/>
            <a:ext cx="91440" cy="91440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1" name="Text 8"/>
          <p:cNvSpPr/>
          <p:nvPr/>
        </p:nvSpPr>
        <p:spPr>
          <a:xfrm>
            <a:off x="6236208" y="23774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reads the task and hands off to research first.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035808"/>
            <a:ext cx="91440" cy="91440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208" y="2926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research_expert returns France's GDP as a fact.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584448"/>
            <a:ext cx="91440" cy="91440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5" name="Text 12"/>
          <p:cNvSpPr/>
          <p:nvPr/>
        </p:nvSpPr>
        <p:spPr>
          <a:xfrm>
            <a:off x="6236208" y="34747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returns to the supervisor, which routes to math_expert.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4133088"/>
            <a:ext cx="91440" cy="91440"/>
          </a:xfrm>
          <a:prstGeom prst="ellipse">
            <a:avLst/>
          </a:prstGeom>
          <a:solidFill>
            <a:srgbClr val="E8743C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4023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2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specialists, one coordinator — that's the whole system.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MULTI-AGENT SYSTEM IN ~20 LINES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these out loud before the interview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365760" cy="365760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949501"/>
            <a:ext cx="160934" cy="1609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2880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 agent?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hard-code a workflow's path. An agent decides its own path at runtime. Prefer workflows; reach for agents only when the steps can't be predicted.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681728" y="1627632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847088"/>
            <a:ext cx="365760" cy="365760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885" y="1949501"/>
            <a:ext cx="160934" cy="1609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82880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LangGraph over a raw loop?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286000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persistence, conditional and cyclic flow, human-in-the-loop, and resume are all first-class. The hand-rolled loop has none of them.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66928" y="3108960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28416"/>
            <a:ext cx="365760" cy="365760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3430829"/>
            <a:ext cx="160934" cy="1609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1012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vs A2A?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376732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an agent to tools and data. A2A connects agents to each other. They're complementary — real systems run both.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681728" y="3108960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328416"/>
            <a:ext cx="365760" cy="365760"/>
          </a:xfrm>
          <a:prstGeom prst="ellipse">
            <a:avLst/>
          </a:prstGeom>
          <a:solidFill>
            <a:srgbClr val="F4E1D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885" y="3430829"/>
            <a:ext cx="160934" cy="1609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31012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multi-agent worth it?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767328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task splits into separable specialties or needs parallel work. Otherwise one good agent with the right tools wins on cost and latency.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CRISP DEFINITIONS BEAT BUZZWORDS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bootcamp on one slide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8010144" cy="658368"/>
          </a:xfrm>
          <a:prstGeom prst="roundRect">
            <a:avLst>
              <a:gd name="adj" fmla="val 11111"/>
            </a:avLst>
          </a:prstGeom>
          <a:solidFill>
            <a:srgbClr val="1C1B18"/>
          </a:solidFill>
          <a:ln w="12700">
            <a:solidFill>
              <a:srgbClr val="1C1B1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04872" y="15544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42232" y="15544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/ A2A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9592" y="15544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15544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487168"/>
            <a:ext cx="54864" cy="987552"/>
          </a:xfrm>
          <a:prstGeom prst="rect">
            <a:avLst/>
          </a:prstGeom>
          <a:solidFill>
            <a:srgbClr val="C0450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52374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852928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 chaining, routing, parallelization, orchestrator–workers, evaluator–optimizer. Agentic: reflection, tool use, planning, multi-agent.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681728" y="2377440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2487168"/>
            <a:ext cx="54864" cy="987552"/>
          </a:xfrm>
          <a:prstGeom prst="rect">
            <a:avLst/>
          </a:prstGeom>
          <a:solidFill>
            <a:srgbClr val="9A7B1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52374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2852928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(TypedDict) · Nodes (functions) · Edges (conditional/cyclic) · Checkpointer (memory). Shortcut: create_react_agent.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6928" y="3639312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749040"/>
            <a:ext cx="54864" cy="987552"/>
          </a:xfrm>
          <a:prstGeom prst="rect">
            <a:avLst/>
          </a:prstGeom>
          <a:solidFill>
            <a:srgbClr val="1A735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78561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1148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→ Client → Server. Server: tools, resources, prompts. Client: sampling, roots, elicitation. stdio + Streamable HTTP.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681728" y="3639312"/>
            <a:ext cx="3913632" cy="1207008"/>
          </a:xfrm>
          <a:prstGeom prst="roundRect">
            <a:avLst>
              <a:gd name="adj" fmla="val 6061"/>
            </a:avLst>
          </a:prstGeom>
          <a:solidFill>
            <a:srgbClr val="FBFAF6"/>
          </a:solidFill>
          <a:ln w="12700">
            <a:solidFill>
              <a:srgbClr val="E2DF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749040"/>
            <a:ext cx="54864" cy="98755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78561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9472" y="41148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5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(centralized) · Swarm (handoffs) · Hierarchical (nested) · Pipeline (sequential). create_supervisor for the common case.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TOOL-CALLER → MULTI-AGENT ARCHITECT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A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SHIPPED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multi-agent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6384" y="2468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A89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system, end to end.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8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while-loop to a supervisor routing specialist agents over MCP and A2A — you built every layer yourself.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LANGCHAIN  ·  LANGGRAPH  ·  MCP  ·  A2A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0" y="47548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Systems Bootcamp</dc:title>
  <dc:subject>PptxGenJS Presentation</dc:subject>
  <dc:creator>AI Foundations Bootcamp</dc:creator>
  <cp:lastModifiedBy>AI Foundations Bootcamp</cp:lastModifiedBy>
  <cp:revision>1</cp:revision>
  <dcterms:created xsi:type="dcterms:W3CDTF">2026-06-18T20:47:23Z</dcterms:created>
  <dcterms:modified xsi:type="dcterms:W3CDTF">2026-06-18T20:47:23Z</dcterms:modified>
</cp:coreProperties>
</file>