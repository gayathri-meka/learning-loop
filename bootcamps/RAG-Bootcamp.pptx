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B8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3-DAY INTENSIVE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1325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Bootcamp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621792" y="2395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A8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to Working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working, demoable RAG pipeline from scratch — foundations, retrieval, evaluation, and agentic architecture.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806854" cy="365760"/>
          </a:xfrm>
          <a:prstGeom prst="roundRect">
            <a:avLst>
              <a:gd name="adj" fmla="val 50000"/>
            </a:avLst>
          </a:prstGeom>
          <a:solidFill>
            <a:srgbClr val="1C1B18"/>
          </a:solidFill>
          <a:ln w="12700">
            <a:solidFill>
              <a:srgbClr val="4FB8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77640"/>
            <a:ext cx="1806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B8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+ LangChain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11526" y="3977640"/>
            <a:ext cx="965606" cy="365760"/>
          </a:xfrm>
          <a:prstGeom prst="roundRect">
            <a:avLst>
              <a:gd name="adj" fmla="val 50000"/>
            </a:avLst>
          </a:prstGeom>
          <a:solidFill>
            <a:srgbClr val="1C1B18"/>
          </a:solidFill>
          <a:ln w="12700">
            <a:solidFill>
              <a:srgbClr val="3A3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1526" y="3977640"/>
            <a:ext cx="9656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1725" y="3977640"/>
            <a:ext cx="797357" cy="365760"/>
          </a:xfrm>
          <a:prstGeom prst="roundRect">
            <a:avLst>
              <a:gd name="adj" fmla="val 50000"/>
            </a:avLst>
          </a:prstGeom>
          <a:solidFill>
            <a:srgbClr val="1C1B18"/>
          </a:solidFill>
          <a:ln w="12700">
            <a:solidFill>
              <a:srgbClr val="3A3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1725" y="3977640"/>
            <a:ext cx="7973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3674" y="3977640"/>
            <a:ext cx="797357" cy="365760"/>
          </a:xfrm>
          <a:prstGeom prst="roundRect">
            <a:avLst>
              <a:gd name="adj" fmla="val 50000"/>
            </a:avLst>
          </a:prstGeom>
          <a:solidFill>
            <a:srgbClr val="1C1B18"/>
          </a:solidFill>
          <a:ln w="12700">
            <a:solidFill>
              <a:srgbClr val="3A3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3674" y="3977640"/>
            <a:ext cx="7973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Python · LangChain · ChromaDB · OpenAI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PROGRAM · 3 DAYS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to a demoable pipeline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87752" cy="2514600"/>
          </a:xfrm>
          <a:prstGeom prst="roundRect">
            <a:avLst>
              <a:gd name="adj" fmla="val 3273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65960"/>
            <a:ext cx="658368" cy="65836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6" name="Image 0" descr="icons/boo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488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002536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27048" y="22402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8952" y="2898648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is, why it exists, and the pipeline anatomy — then ingest your first document.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73552" y="1691640"/>
            <a:ext cx="2587752" cy="2514600"/>
          </a:xfrm>
          <a:prstGeom prst="roundRect">
            <a:avLst>
              <a:gd name="adj" fmla="val 3273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9584" y="1965960"/>
            <a:ext cx="658368" cy="658368"/>
          </a:xfrm>
          <a:prstGeom prst="ellipse">
            <a:avLst/>
          </a:prstGeom>
          <a:solidFill>
            <a:srgbClr val="EFEAD8"/>
          </a:solidFill>
          <a:ln/>
        </p:spPr>
      </p:sp>
      <p:pic>
        <p:nvPicPr>
          <p:cNvPr id="12" name="Image 1" descr="icons/slid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1488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2002536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297680" y="22402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Work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3529584" y="2898648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naive RAG breaks. Add reranking, query decomposition, and real evaluation.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44184" y="1691640"/>
            <a:ext cx="2587752" cy="2514600"/>
          </a:xfrm>
          <a:prstGeom prst="roundRect">
            <a:avLst>
              <a:gd name="adj" fmla="val 3273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0216" y="1965960"/>
            <a:ext cx="658368" cy="658368"/>
          </a:xfrm>
          <a:prstGeom prst="ellipse">
            <a:avLst/>
          </a:prstGeom>
          <a:solidFill>
            <a:srgbClr val="F3E2D7"/>
          </a:solidFill>
          <a:ln/>
        </p:spPr>
      </p:sp>
      <p:pic>
        <p:nvPicPr>
          <p:cNvPr id="18" name="Image 2" descr="icons/robot_ru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14884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68312" y="2002536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068312" y="22402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+ Production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6300216" y="2898648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RAG, architecture tradeoffs, the production toolkit, and interview narrative.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Python · LangChain · ChromaDB · OpenAI · text-embedding-3-small · gpt-4o-mini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START · SETUP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this once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818120" y="502920"/>
            <a:ext cx="658368" cy="658368"/>
          </a:xfrm>
          <a:prstGeom prst="ellipse">
            <a:avLst/>
          </a:prstGeom>
          <a:solidFill>
            <a:srgbClr val="E4EDE6"/>
          </a:solidFill>
          <a:ln/>
        </p:spPr>
      </p:sp>
      <p:pic>
        <p:nvPicPr>
          <p:cNvPr id="5" name="Image 0" descr="icons/terminal_g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685800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00200"/>
            <a:ext cx="4297680" cy="2788920"/>
          </a:xfrm>
          <a:prstGeom prst="roundRect">
            <a:avLst>
              <a:gd name="adj" fmla="val 2951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" y="2103120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rag-bootcamp &amp;&amp; cd rag-bootcamp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langchain langchain-openai \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langchain-community chromadb \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python-dotenv tiktoken pypdf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7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 →  OPENAI_API_KEY=your_key_here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83480" y="160020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39512" y="1801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STRUCTURE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39512" y="2103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rag-bootcamp/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     ← documents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day1.py  ├── day2.py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day3.py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983480" y="3520440"/>
            <a:ext cx="3657600" cy="868680"/>
          </a:xfrm>
          <a:prstGeom prst="roundRect">
            <a:avLst>
              <a:gd name="adj" fmla="val 9474"/>
            </a:avLst>
          </a:prstGeom>
          <a:solidFill>
            <a:srgbClr val="E3EFE9"/>
          </a:solidFill>
          <a:ln w="12700">
            <a:solidFill>
              <a:srgbClr val="BBD8C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39512" y="3666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239512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2–3 PDFs on any topic into /data. Richer documents make retrieval more interesting.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B8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760720" y="9144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4FB8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718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is and why it exists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456432"/>
            <a:ext cx="109728" cy="109728"/>
          </a:xfrm>
          <a:prstGeom prst="ellipse">
            <a:avLst/>
          </a:prstGeom>
          <a:solidFill>
            <a:srgbClr val="4FB8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5584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anatomy: ingestion + query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3840480"/>
            <a:ext cx="109728" cy="109728"/>
          </a:xfrm>
          <a:prstGeom prst="ellipse">
            <a:avLst/>
          </a:prstGeom>
          <a:solidFill>
            <a:srgbClr val="4FB8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398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 embeddings, vectors, chunking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8368" y="4224528"/>
            <a:ext cx="109728" cy="109728"/>
          </a:xfrm>
          <a:prstGeom prst="ellipse">
            <a:avLst/>
          </a:prstGeom>
          <a:solidFill>
            <a:srgbClr val="4FB8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239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ingest your first document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1.1 · WHY RAG EXISTS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doesn’t know your documents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818120" y="502920"/>
            <a:ext cx="658368" cy="65836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5" name="Image 0" descr="icons/boo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685800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956816"/>
            <a:ext cx="292608" cy="292608"/>
          </a:xfrm>
          <a:prstGeom prst="ellipse">
            <a:avLst/>
          </a:prstGeom>
          <a:solidFill>
            <a:srgbClr val="C0450E"/>
          </a:solidFill>
          <a:ln/>
        </p:spPr>
      </p:sp>
      <p:sp>
        <p:nvSpPr>
          <p:cNvPr id="8" name="Text 5"/>
          <p:cNvSpPr/>
          <p:nvPr/>
        </p:nvSpPr>
        <p:spPr>
          <a:xfrm>
            <a:off x="1170432" y="17922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20665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generalist trained to a cutoff. It doesn’t know your documents, recent events, or private data.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502920" y="2633472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2944368"/>
            <a:ext cx="292608" cy="292608"/>
          </a:xfrm>
          <a:prstGeom prst="ellipse">
            <a:avLst/>
          </a:prstGeom>
          <a:solidFill>
            <a:srgbClr val="9A7B12"/>
          </a:solidFill>
          <a:ln/>
        </p:spPr>
      </p:sp>
      <p:sp>
        <p:nvSpPr>
          <p:cNvPr id="12" name="Text 9"/>
          <p:cNvSpPr/>
          <p:nvPr/>
        </p:nvSpPr>
        <p:spPr>
          <a:xfrm>
            <a:off x="1170432" y="277977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fix fails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70432" y="30540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paste 10,000 pages into a prompt. Context windows are finite — and the model buries the needle in the haystack.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502920" y="3621024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3232" y="3931920"/>
            <a:ext cx="292608" cy="292608"/>
          </a:xfrm>
          <a:prstGeom prst="ellipse">
            <a:avLst/>
          </a:prstGeom>
          <a:solidFill>
            <a:srgbClr val="1A7355"/>
          </a:solidFill>
          <a:ln/>
        </p:spPr>
      </p:sp>
      <p:sp>
        <p:nvSpPr>
          <p:cNvPr id="16" name="Text 13"/>
          <p:cNvSpPr/>
          <p:nvPr/>
        </p:nvSpPr>
        <p:spPr>
          <a:xfrm>
            <a:off x="1170432" y="37673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does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70432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problem: index documents ahead of time, then at query time retrieve only the relevant parts and generate.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5806440" y="1645920"/>
            <a:ext cx="2834640" cy="2999232"/>
          </a:xfrm>
          <a:prstGeom prst="roundRect">
            <a:avLst>
              <a:gd name="adj" fmla="val 2903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80760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B8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MENTAL MODEL</a:t>
            </a:r>
            <a:endParaRPr lang="en-US" sz="1000" dirty="0"/>
          </a:p>
        </p:txBody>
      </p:sp>
      <p:pic>
        <p:nvPicPr>
          <p:cNvPr id="20" name="Image 1" descr="icons/boo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304288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8076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i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hand the student the whole library.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608076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a librarian who pulls the right 3 pages.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= RETRIEVAL-AUGMENTED GENERATION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1.2 · PIPELINE ANATOMY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RAG system has two phases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97764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10512"/>
            <a:ext cx="548640" cy="548640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6" name="Image 0" descr="icons/cube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568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 PHASE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417320" y="20756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· run once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7240" y="2505456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6968" y="25054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16152" y="25054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documents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777240" y="2926080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8696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16152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777240" y="3346704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6968" y="33467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216152" y="33467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(≈500 / 50 overlap)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777240" y="3767328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6968" y="3767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16152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777240" y="4187952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E3EFE9"/>
          </a:solidFill>
          <a:ln w="12700">
            <a:solidFill>
              <a:srgbClr val="1A735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6968" y="41879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216152" y="4187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80" dirty="0"/>
          </a:p>
        </p:txBody>
      </p:sp>
      <p:sp>
        <p:nvSpPr>
          <p:cNvPr id="24" name="Shape 21"/>
          <p:cNvSpPr/>
          <p:nvPr/>
        </p:nvSpPr>
        <p:spPr>
          <a:xfrm>
            <a:off x="4663440" y="1572768"/>
            <a:ext cx="397764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919472" y="1810512"/>
            <a:ext cx="548640" cy="548640"/>
          </a:xfrm>
          <a:prstGeom prst="ellipse">
            <a:avLst/>
          </a:prstGeom>
          <a:solidFill>
            <a:srgbClr val="E0E8EE"/>
          </a:solidFill>
          <a:ln/>
        </p:spPr>
      </p:sp>
      <p:pic>
        <p:nvPicPr>
          <p:cNvPr id="26" name="Image 1" descr="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956816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577840" y="1828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PHASE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577840" y="20756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· every request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937760" y="2505456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047488" y="25054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376672" y="25054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80" dirty="0"/>
          </a:p>
        </p:txBody>
      </p:sp>
      <p:sp>
        <p:nvSpPr>
          <p:cNvPr id="32" name="Shape 28"/>
          <p:cNvSpPr/>
          <p:nvPr/>
        </p:nvSpPr>
        <p:spPr>
          <a:xfrm>
            <a:off x="4937760" y="2926080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504748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376672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180" dirty="0"/>
          </a:p>
        </p:txBody>
      </p:sp>
      <p:sp>
        <p:nvSpPr>
          <p:cNvPr id="35" name="Shape 31"/>
          <p:cNvSpPr/>
          <p:nvPr/>
        </p:nvSpPr>
        <p:spPr>
          <a:xfrm>
            <a:off x="4937760" y="3346704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5047488" y="33467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376672" y="33467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(similarity)</a:t>
            </a:r>
            <a:endParaRPr lang="en-US" sz="1180" dirty="0"/>
          </a:p>
        </p:txBody>
      </p:sp>
      <p:sp>
        <p:nvSpPr>
          <p:cNvPr id="38" name="Shape 34"/>
          <p:cNvSpPr/>
          <p:nvPr/>
        </p:nvSpPr>
        <p:spPr>
          <a:xfrm>
            <a:off x="4937760" y="3767328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5047488" y="3767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376672" y="3767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 into prompt</a:t>
            </a:r>
            <a:endParaRPr lang="en-US" sz="1180" dirty="0"/>
          </a:p>
        </p:txBody>
      </p:sp>
      <p:sp>
        <p:nvSpPr>
          <p:cNvPr id="41" name="Shape 37"/>
          <p:cNvSpPr/>
          <p:nvPr/>
        </p:nvSpPr>
        <p:spPr>
          <a:xfrm>
            <a:off x="4937760" y="4187952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E0E8EE"/>
          </a:solidFill>
          <a:ln w="12700">
            <a:solidFill>
              <a:srgbClr val="1A5C8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5047488" y="41879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376672" y="4187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180" dirty="0"/>
          </a:p>
        </p:txBody>
      </p:sp>
      <p:sp>
        <p:nvSpPr>
          <p:cNvPr id="44" name="Text 40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ONCE · QUERY EVERY REQUEST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1.3 · KEY CONCEPTS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that make it work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883664"/>
            <a:ext cx="713232" cy="713232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6" name="Image 0" descr="icons/vecto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756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15798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that captures meaning. Similar meaning → similar vector → close in space. 1536 dims for text-embedding-3-small.</a:t>
            </a:r>
            <a:endParaRPr lang="en-US" sz="1160" dirty="0"/>
          </a:p>
        </p:txBody>
      </p:sp>
      <p:sp>
        <p:nvSpPr>
          <p:cNvPr id="9" name="Shape 6"/>
          <p:cNvSpPr/>
          <p:nvPr/>
        </p:nvSpPr>
        <p:spPr>
          <a:xfrm>
            <a:off x="4663440" y="162763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01184" y="1883664"/>
            <a:ext cx="713232" cy="713232"/>
          </a:xfrm>
          <a:prstGeom prst="ellipse">
            <a:avLst/>
          </a:prstGeom>
          <a:solidFill>
            <a:srgbClr val="E0E8EE"/>
          </a:solidFill>
          <a:ln/>
        </p:spPr>
      </p:sp>
      <p:pic>
        <p:nvPicPr>
          <p:cNvPr id="11" name="Image 1" descr="icons/db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20756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760720" y="215798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built for vectors. Ask for the k closest to a query vector. ChromaDB runs locally, no setup.</a:t>
            </a:r>
            <a:endParaRPr lang="en-US" sz="1160" dirty="0"/>
          </a:p>
        </p:txBody>
      </p:sp>
      <p:sp>
        <p:nvSpPr>
          <p:cNvPr id="14" name="Shape 10"/>
          <p:cNvSpPr/>
          <p:nvPr/>
        </p:nvSpPr>
        <p:spPr>
          <a:xfrm>
            <a:off x="502920" y="310896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" y="3364992"/>
            <a:ext cx="713232" cy="713232"/>
          </a:xfrm>
          <a:prstGeom prst="ellipse">
            <a:avLst/>
          </a:prstGeom>
          <a:solidFill>
            <a:srgbClr val="E4EDE6"/>
          </a:solidFill>
          <a:ln/>
        </p:spPr>
      </p:sp>
      <p:pic>
        <p:nvPicPr>
          <p:cNvPr id="16" name="Image 2" descr="icons/compass_g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5701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10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00200" y="363931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close two vectors are. 1 = identical meaning, 0 = unrelated. Chroma handles it for you.</a:t>
            </a:r>
            <a:endParaRPr lang="en-US" sz="116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01184" y="3364992"/>
            <a:ext cx="713232" cy="713232"/>
          </a:xfrm>
          <a:prstGeom prst="ellipse">
            <a:avLst/>
          </a:prstGeom>
          <a:solidFill>
            <a:srgbClr val="F3E2D7"/>
          </a:solidFill>
          <a:ln/>
        </p:spPr>
      </p:sp>
      <p:pic>
        <p:nvPicPr>
          <p:cNvPr id="21" name="Image 3" descr="icons/scissors_ru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55701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310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760720" y="363931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long docs into ≈500-char pieces with overlap, so context isn’t lost at the boundaries.</a:t>
            </a:r>
            <a:endParaRPr lang="en-US" sz="1160" dirty="0"/>
          </a:p>
        </p:txBody>
      </p:sp>
      <p:sp>
        <p:nvSpPr>
          <p:cNvPr id="24" name="Text 18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 MEANING = SIMILAR VECTOR = CLOSE IN SPACE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1.4 · 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day1.py — ingest a document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4617720" cy="658368"/>
          </a:xfrm>
          <a:prstGeom prst="roundRect">
            <a:avLst>
              <a:gd name="adj" fmla="val 1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92224"/>
            <a:ext cx="329184" cy="329184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92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9576" y="17190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79576" y="1965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0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PyPDFLoader reads your PDF into page documents.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59152"/>
            <a:ext cx="4617720" cy="658368"/>
          </a:xfrm>
          <a:prstGeom prst="roundRect">
            <a:avLst>
              <a:gd name="adj" fmla="val 1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2523744"/>
            <a:ext cx="329184" cy="329184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9576" y="24505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9576" y="26974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0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RecursiveCharacterTextSplitter — size 500, overlap 50.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4617720" cy="658368"/>
          </a:xfrm>
          <a:prstGeom prst="roundRect">
            <a:avLst>
              <a:gd name="adj" fmla="val 1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255264"/>
            <a:ext cx="329184" cy="329184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9576" y="31821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store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79576" y="3429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0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Chroma.from_documents() persists to ./chroma_db.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22192"/>
            <a:ext cx="4617720" cy="658368"/>
          </a:xfrm>
          <a:prstGeom prst="roundRect">
            <a:avLst>
              <a:gd name="adj" fmla="val 1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3986784"/>
            <a:ext cx="329184" cy="329184"/>
          </a:xfrm>
          <a:prstGeom prst="ellipse">
            <a:avLst/>
          </a:prstGeom>
          <a:solidFill>
            <a:srgbClr val="E3EFE9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9576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79576" y="4160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0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similarity_search(query, k=3) — do the hits look right?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49240" y="1627632"/>
            <a:ext cx="3291840" cy="2962656"/>
          </a:xfrm>
          <a:prstGeom prst="roundRect">
            <a:avLst>
              <a:gd name="adj" fmla="val 2778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883664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062472" y="18836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B8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23560" y="2377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660136" y="263347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exists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660136" y="2866644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vs querying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660136" y="309981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embeddings are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0136" y="3332988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 overlap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623560" y="3639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660136" y="3895344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with all libraries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660136" y="412851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saved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660136" y="4361688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similarity results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→ ./chroma_db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760720" y="9144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Work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D4A5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718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naive RAG fails — four predictable ways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456432"/>
            <a:ext cx="109728" cy="109728"/>
          </a:xfrm>
          <a:prstGeom prst="ellipse">
            <a:avLst/>
          </a:prstGeom>
          <a:solidFill>
            <a:srgbClr val="D4A52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5584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+ query decomposition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3840480"/>
            <a:ext cx="109728" cy="109728"/>
          </a:xfrm>
          <a:prstGeom prst="ellipse">
            <a:avLst/>
          </a:prstGeom>
          <a:solidFill>
            <a:srgbClr val="D4A52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398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faithfulness, relevance, precision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8368" y="4224528"/>
            <a:ext cx="109728" cy="109728"/>
          </a:xfrm>
          <a:prstGeom prst="ellipse">
            <a:avLst/>
          </a:prstGeom>
          <a:solidFill>
            <a:srgbClr val="D4A52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239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full pipeline with grounding + eval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2.1 · FAILURE MODES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RAG breaks in predictable ways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818120" y="502920"/>
            <a:ext cx="658368" cy="658368"/>
          </a:xfrm>
          <a:prstGeom prst="ellipse">
            <a:avLst/>
          </a:prstGeom>
          <a:solidFill>
            <a:srgbClr val="EFEAD8"/>
          </a:solidFill>
          <a:ln/>
        </p:spPr>
      </p:sp>
      <p:pic>
        <p:nvPicPr>
          <p:cNvPr id="5" name="Image 0" descr="icons/war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685800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2763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0664" y="1901952"/>
            <a:ext cx="731520" cy="731520"/>
          </a:xfrm>
          <a:prstGeom prst="ellipse">
            <a:avLst/>
          </a:prstGeom>
          <a:solidFill>
            <a:srgbClr val="EFEAD8"/>
          </a:solidFill>
          <a:ln/>
        </p:spPr>
      </p:sp>
      <p:sp>
        <p:nvSpPr>
          <p:cNvPr id="8" name="Text 5"/>
          <p:cNvSpPr/>
          <p:nvPr/>
        </p:nvSpPr>
        <p:spPr>
          <a:xfrm>
            <a:off x="740664" y="1901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618488" y="184708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chunking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18488" y="2176272"/>
            <a:ext cx="2679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cuts mid-concept → noisy embedding → wrong retrieval.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4663440" y="162763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01184" y="1901952"/>
            <a:ext cx="731520" cy="731520"/>
          </a:xfrm>
          <a:prstGeom prst="ellipse">
            <a:avLst/>
          </a:prstGeom>
          <a:solidFill>
            <a:srgbClr val="EFEAD8"/>
          </a:solidFill>
          <a:ln/>
        </p:spPr>
      </p:sp>
      <p:sp>
        <p:nvSpPr>
          <p:cNvPr id="13" name="Text 10"/>
          <p:cNvSpPr/>
          <p:nvPr/>
        </p:nvSpPr>
        <p:spPr>
          <a:xfrm>
            <a:off x="4901184" y="19019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779008" y="184708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 mismatch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779008" y="2176272"/>
            <a:ext cx="2679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 “remote work,” doc says “work from home” → miss.</a:t>
            </a:r>
            <a:endParaRPr lang="en-US" sz="1160" dirty="0"/>
          </a:p>
        </p:txBody>
      </p:sp>
      <p:sp>
        <p:nvSpPr>
          <p:cNvPr id="16" name="Shape 13"/>
          <p:cNvSpPr/>
          <p:nvPr/>
        </p:nvSpPr>
        <p:spPr>
          <a:xfrm>
            <a:off x="502920" y="310896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0664" y="3383280"/>
            <a:ext cx="731520" cy="731520"/>
          </a:xfrm>
          <a:prstGeom prst="ellipse">
            <a:avLst/>
          </a:prstGeom>
          <a:solidFill>
            <a:srgbClr val="EFEAD8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64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618488" y="3328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Top-k noise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618488" y="3657600"/>
            <a:ext cx="2679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chunks retrieved, 3 are wrong → the model hallucinates.</a:t>
            </a:r>
            <a:endParaRPr lang="en-US" sz="1160" dirty="0"/>
          </a:p>
        </p:txBody>
      </p:sp>
      <p:sp>
        <p:nvSpPr>
          <p:cNvPr id="21" name="Shape 18"/>
          <p:cNvSpPr/>
          <p:nvPr/>
        </p:nvSpPr>
        <p:spPr>
          <a:xfrm>
            <a:off x="4663440" y="310896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01184" y="3383280"/>
            <a:ext cx="731520" cy="731520"/>
          </a:xfrm>
          <a:prstGeom prst="ellipse">
            <a:avLst/>
          </a:prstGeom>
          <a:solidFill>
            <a:srgbClr val="EFEAD8"/>
          </a:solidFill>
          <a:ln/>
        </p:spPr>
      </p:sp>
      <p:sp>
        <p:nvSpPr>
          <p:cNvPr id="23" name="Text 20"/>
          <p:cNvSpPr/>
          <p:nvPr/>
        </p:nvSpPr>
        <p:spPr>
          <a:xfrm>
            <a:off x="4901184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5779008" y="3328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in the middle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779008" y="3657600"/>
            <a:ext cx="2679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favor start/end → a relevant middle chunk gets ignored.</a:t>
            </a:r>
            <a:endParaRPr lang="en-US" sz="1160" dirty="0"/>
          </a:p>
        </p:txBody>
      </p:sp>
      <p:sp>
        <p:nvSpPr>
          <p:cNvPr id="26" name="Text 23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HAVE RETRIEVAL — NOW MAKE IT PRECISE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2.2–2.3 · FIXING RETRIEVAL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fixes for messy retrieval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3063240"/>
          </a:xfrm>
          <a:prstGeom prst="roundRect">
            <a:avLst>
              <a:gd name="adj" fmla="val 268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37944"/>
            <a:ext cx="548640" cy="548640"/>
          </a:xfrm>
          <a:prstGeom prst="ellipse">
            <a:avLst/>
          </a:prstGeom>
          <a:solidFill>
            <a:srgbClr val="EFEAD8"/>
          </a:solidFill>
          <a:ln/>
        </p:spPr>
      </p:sp>
      <p:pic>
        <p:nvPicPr>
          <p:cNvPr id="6" name="Image 0" descr="icons/slider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842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562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4414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re-scores retrieved chunks against the query, then reorders. Slower, but far more precise.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3081528"/>
            <a:ext cx="3429000" cy="420624"/>
          </a:xfrm>
          <a:prstGeom prst="roundRect">
            <a:avLst>
              <a:gd name="adj" fmla="val 19565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41832" y="30815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 top 10  (fast, approximate)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3584448"/>
            <a:ext cx="3429000" cy="420624"/>
          </a:xfrm>
          <a:prstGeom prst="roundRect">
            <a:avLst>
              <a:gd name="adj" fmla="val 19565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41832" y="35844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Rerank → true top 3  (slower, precise)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" y="4087368"/>
            <a:ext cx="3429000" cy="420624"/>
          </a:xfrm>
          <a:prstGeom prst="roundRect">
            <a:avLst>
              <a:gd name="adj" fmla="val 19565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41832" y="40873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top 3 to the LLM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1600200"/>
            <a:ext cx="3977640" cy="3063240"/>
          </a:xfrm>
          <a:prstGeom prst="roundRect">
            <a:avLst>
              <a:gd name="adj" fmla="val 268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19472" y="1837944"/>
            <a:ext cx="548640" cy="548640"/>
          </a:xfrm>
          <a:prstGeom prst="ellipse">
            <a:avLst/>
          </a:prstGeom>
          <a:solidFill>
            <a:srgbClr val="E0E8EE"/>
          </a:solidFill>
          <a:ln/>
        </p:spPr>
      </p:sp>
      <p:pic>
        <p:nvPicPr>
          <p:cNvPr id="17" name="Image 1" descr="icons/spli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98424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8562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decomposition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937760" y="24414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questions are really several questions. Split them, retrieve for each, then synthesize.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937760" y="3044952"/>
            <a:ext cx="3429000" cy="566928"/>
          </a:xfrm>
          <a:prstGeom prst="roundRect">
            <a:avLst>
              <a:gd name="adj" fmla="val 14516"/>
            </a:avLst>
          </a:prstGeom>
          <a:solidFill>
            <a:srgbClr val="E0E8EE"/>
          </a:solidFill>
          <a:ln w="12700">
            <a:solidFill>
              <a:srgbClr val="C2D2E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102352" y="30449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1D3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did the company earn in Q3, and how does that compare to Q2?”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074920" y="37947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Q3 earnings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Q2 earnings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synthesize the comparison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IS THE WHOLE GAME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2.4 ·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know it’s good?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818120" y="502920"/>
            <a:ext cx="658368" cy="658368"/>
          </a:xfrm>
          <a:prstGeom prst="ellipse">
            <a:avLst/>
          </a:prstGeom>
          <a:solidFill>
            <a:srgbClr val="E4EDE6"/>
          </a:solidFill>
          <a:ln/>
        </p:spPr>
      </p:sp>
      <p:pic>
        <p:nvPicPr>
          <p:cNvPr id="5" name="Image 0" descr="icons/gauge_g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685800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27632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" y="2194560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precision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724912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i="1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retrieved chunks relevant?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758952" y="338328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REVIEW OR LLM-AS-JUDGE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73552" y="1627632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29584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29584" y="2194560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faithfulness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29584" y="2724912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i="1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stick to the context?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3529584" y="338328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LLM-AS-JUDGE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44184" y="1627632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00216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0216" y="2194560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relevance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00216" y="2724912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80" i="1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address the question?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6300216" y="338328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LLM-AS-JUDGE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97764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1" descr="icons/gauge_g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3000" y="3977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can’t improve what you don’t measure.”  </a:t>
            </a:r>
            <a:pPr indent="0" marL="0">
              <a:buNone/>
            </a:pPr>
            <a:r>
              <a:rPr lang="en-US" sz="11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build a RAG pipeline — knowing if it works is the hard part.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LLM-AS-JUDGE = EVALS AT SCALE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760720" y="9144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+ Production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58368" y="3072384"/>
            <a:ext cx="109728" cy="109728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718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— giving the model agency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456432"/>
            <a:ext cx="109728" cy="109728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5584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tradeoffs you propose to clients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3840480"/>
            <a:ext cx="109728" cy="109728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398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toolkit: 4 components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8368" y="4224528"/>
            <a:ext cx="109728" cy="109728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239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agentic pipeline + interview narrative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3.1 · AGENTIC RAG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model agency over retrieval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96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 RAG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93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pipeline. The LLM has no control.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980944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9809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401568"/>
            <a:ext cx="3429000" cy="365760"/>
          </a:xfrm>
          <a:prstGeom prst="roundRect">
            <a:avLst>
              <a:gd name="adj" fmla="val 22500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401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3977640" cy="2331720"/>
          </a:xfrm>
          <a:prstGeom prst="roundRect">
            <a:avLst>
              <a:gd name="adj" fmla="val 3529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0" descr="icons/robot_r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819656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58384" y="18196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RAG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37760" y="21671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controls the loop — and can skip, refine, or repeat.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74336" y="2560320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180" dirty="0">
                <a:solidFill>
                  <a:srgbClr val="E4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do I need to retrieve?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4974336" y="2889504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180" dirty="0">
                <a:solidFill>
                  <a:srgbClr val="E4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— possibly several times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4974336" y="3218688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180" dirty="0">
                <a:solidFill>
                  <a:srgbClr val="E4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enough, or refine the query?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4974336" y="3547872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E87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180" dirty="0">
                <a:solidFill>
                  <a:srgbClr val="E4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final answer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decide whether retrieval is needed, rewrite a failed query, or pull from multiple sources. This is where the field is moving.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FIXED PIPELINE → DECISION LOOP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3.2 · TRADEOFFS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decisions you’re proposing</a:t>
            </a:r>
            <a:endParaRPr lang="en-US" sz="3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81381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606040"/>
                <a:gridCol w="3749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Decision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Options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Tradeoff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45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(200) vs large (1000)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= precise, less context. Large = context, noisier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45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vs sparse (BM25) vs 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= semantic, sparse = exact, hybrid = both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45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vs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context, but more noise and higher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45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vs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precision; adds latency and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45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vs OSS (BGE, E5)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= easy/paid. OSS = free, needs 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45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vs GPT-4o-mini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quality vs lower cost and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PRECISION-SENSITIVE → SMALL CHUNKS, HYBRID, RERANK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3.3 · COMPONENTS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toolkit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883664"/>
            <a:ext cx="713232" cy="713232"/>
          </a:xfrm>
          <a:prstGeom prst="ellipse">
            <a:avLst/>
          </a:prstGeom>
          <a:solidFill>
            <a:srgbClr val="E0E8EE"/>
          </a:solidFill>
          <a:ln/>
        </p:spPr>
      </p:sp>
      <p:pic>
        <p:nvPicPr>
          <p:cNvPr id="6" name="Image 0" descr="icons/spli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756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decomposer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15798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compound questions into sub-queries that span multiple topics.</a:t>
            </a:r>
            <a:endParaRPr lang="en-US" sz="1160" dirty="0"/>
          </a:p>
        </p:txBody>
      </p:sp>
      <p:sp>
        <p:nvSpPr>
          <p:cNvPr id="9" name="Shape 6"/>
          <p:cNvSpPr/>
          <p:nvPr/>
        </p:nvSpPr>
        <p:spPr>
          <a:xfrm>
            <a:off x="4663440" y="162763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01184" y="1883664"/>
            <a:ext cx="713232" cy="713232"/>
          </a:xfrm>
          <a:prstGeom prst="ellipse">
            <a:avLst/>
          </a:prstGeom>
          <a:solidFill>
            <a:srgbClr val="EFEAD8"/>
          </a:solidFill>
          <a:ln/>
        </p:spPr>
      </p:sp>
      <p:pic>
        <p:nvPicPr>
          <p:cNvPr id="11" name="Image 1" descr="icons/slid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20756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760720" y="215798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re-scores chunks. Cohere Rerank or ms-marco-MiniLM.</a:t>
            </a:r>
            <a:endParaRPr lang="en-US" sz="1160" dirty="0"/>
          </a:p>
        </p:txBody>
      </p:sp>
      <p:sp>
        <p:nvSpPr>
          <p:cNvPr id="14" name="Shape 10"/>
          <p:cNvSpPr/>
          <p:nvPr/>
        </p:nvSpPr>
        <p:spPr>
          <a:xfrm>
            <a:off x="502920" y="310896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" y="3364992"/>
            <a:ext cx="713232" cy="713232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16" name="Image 2" descr="icons/db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5701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10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types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00200" y="363931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(vectors) · sparse (BM25) · hybrid — merge both for production.</a:t>
            </a:r>
            <a:endParaRPr lang="en-US" sz="116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01184" y="3364992"/>
            <a:ext cx="713232" cy="713232"/>
          </a:xfrm>
          <a:prstGeom prst="ellipse">
            <a:avLst/>
          </a:prstGeom>
          <a:solidFill>
            <a:srgbClr val="F3E2D7"/>
          </a:solidFill>
          <a:ln/>
        </p:spPr>
      </p:sp>
      <p:pic>
        <p:nvPicPr>
          <p:cNvPr id="21" name="Image 3" descr="icons/puzzle_ru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55701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310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filtering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760720" y="363931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6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date, type, or department before search. Often the biggest win.</a:t>
            </a:r>
            <a:endParaRPr lang="en-US" sz="1160" dirty="0"/>
          </a:p>
        </p:txBody>
      </p:sp>
      <p:sp>
        <p:nvSpPr>
          <p:cNvPr id="24" name="Text 18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· SPARSE · HYBRID · METADATA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7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3.5 · IN THE INTERVIEW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say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26241F"/>
          </a:solidFill>
          <a:ln w="12700">
            <a:solidFill>
              <a:srgbClr val="3A372F"/>
            </a:solidFill>
            <a:prstDash val="solid"/>
          </a:ln>
        </p:spPr>
      </p:sp>
      <p:pic>
        <p:nvPicPr>
          <p:cNvPr id="5" name="Image 0" descr="icons/quot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" y="2121408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hardest part isn’t generation — it’s retrieval precision. The best LLM still degrades on noisy chunks.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0664" y="267004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4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PROBLEM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63440" y="1572768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26241F"/>
          </a:solidFill>
          <a:ln w="12700">
            <a:solidFill>
              <a:srgbClr val="3A372F"/>
            </a:solidFill>
            <a:prstDash val="solid"/>
          </a:ln>
        </p:spPr>
      </p:sp>
      <p:pic>
        <p:nvPicPr>
          <p:cNvPr id="9" name="Image 1" descr="icons/quot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7922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01184" y="2121408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RAG is a fixed pipeline. Agentic RAG hands the model control over when and how to retrieve.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901184" y="2670048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4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AGENTIC RAG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02920" y="310896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26241F"/>
          </a:solidFill>
          <a:ln w="12700">
            <a:solidFill>
              <a:srgbClr val="3A372F"/>
            </a:solidFill>
            <a:prstDash val="solid"/>
          </a:ln>
        </p:spPr>
      </p:sp>
      <p:pic>
        <p:nvPicPr>
          <p:cNvPr id="13" name="Image 2" descr="icons/quot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32841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" y="365760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can’t improve what you don’t measure — faithfulness and relevance, scored with LLM-as-judge.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40664" y="4206240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4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EVALUATION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663440" y="310896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26241F"/>
          </a:solidFill>
          <a:ln w="12700">
            <a:solidFill>
              <a:srgbClr val="3A372F"/>
            </a:solidFill>
            <a:prstDash val="solid"/>
          </a:ln>
        </p:spPr>
      </p:sp>
      <p:pic>
        <p:nvPicPr>
          <p:cNvPr id="17" name="Image 3" descr="icons/quot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3284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01184" y="365760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ED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Depends on the use case: precision-sensitive → small chunks + rerank; high-volume → cost first.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901184" y="4206240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4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CLIENT WORK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 DEMO ARTIFACT: AN AGENTIC PIPELINE WITH verbose=True — WALK THE REASONING CHAIN LIVE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REFERENCE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one place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64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8653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 </a:t>
            </a:r>
            <a:pPr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→ Load → Chunk (500/50) → Embed → ChromaDB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  </a:t>
            </a:r>
            <a:pPr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→ Embed → Similarity → Top-k → Prompt + Context → LLM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2587752" cy="1993392"/>
          </a:xfrm>
          <a:prstGeom prst="roundRect">
            <a:avLst>
              <a:gd name="adj" fmla="val 412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" y="2743200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MODES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" y="3072384"/>
            <a:ext cx="2130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chunking → noise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mismatch → hybrid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chunks → rerank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Q → decompose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2560320"/>
            <a:ext cx="2587752" cy="1993392"/>
          </a:xfrm>
          <a:prstGeom prst="roundRect">
            <a:avLst>
              <a:gd name="adj" fmla="val 412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2743200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METRICS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11296" y="3072384"/>
            <a:ext cx="2130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Faithfulness: uses only context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answers the question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precision: right chunks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44184" y="2560320"/>
            <a:ext cx="2587752" cy="1993392"/>
          </a:xfrm>
          <a:prstGeom prst="roundRect">
            <a:avLst>
              <a:gd name="adj" fmla="val 4128"/>
            </a:avLst>
          </a:prstGeom>
          <a:solidFill>
            <a:srgbClr val="F5F3EE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81928" y="2743200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81928" y="3072384"/>
            <a:ext cx="2130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decomposer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 (cross-encoder)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(dense + BM25)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→"/>
            </a:pPr>
            <a:r>
              <a:rPr lang="en-US" sz="1150" dirty="0">
                <a:solidFill>
                  <a:srgbClr val="4A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BOOTCAMP · 3 DAYS TO A WORKING PIPELINE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736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B8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 ·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pipeline,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3504" y="25420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A8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C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→ retrieval that works → evaluation → agentic architecture. You can walk anyone through the demo in ten minutes.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Python · LangChain · ChromaDB · OpenAI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0" y="4590288"/>
            <a:ext cx="118872" cy="118872"/>
          </a:xfrm>
          <a:prstGeom prst="ellipse">
            <a:avLst/>
          </a:prstGeom>
          <a:solidFill>
            <a:srgbClr val="1A7355"/>
          </a:solidFill>
          <a:ln/>
        </p:spPr>
      </p:sp>
      <p:sp>
        <p:nvSpPr>
          <p:cNvPr id="8" name="Shape 6"/>
          <p:cNvSpPr/>
          <p:nvPr/>
        </p:nvSpPr>
        <p:spPr>
          <a:xfrm>
            <a:off x="8156448" y="4590288"/>
            <a:ext cx="118872" cy="118872"/>
          </a:xfrm>
          <a:prstGeom prst="ellipse">
            <a:avLst/>
          </a:prstGeom>
          <a:solidFill>
            <a:srgbClr val="D4A526"/>
          </a:solidFill>
          <a:ln/>
        </p:spPr>
      </p:sp>
      <p:sp>
        <p:nvSpPr>
          <p:cNvPr id="9" name="Shape 7"/>
          <p:cNvSpPr/>
          <p:nvPr/>
        </p:nvSpPr>
        <p:spPr>
          <a:xfrm>
            <a:off x="8357616" y="4590288"/>
            <a:ext cx="118872" cy="118872"/>
          </a:xfrm>
          <a:prstGeom prst="ellipse">
            <a:avLst/>
          </a:prstGeom>
          <a:solidFill>
            <a:srgbClr val="E8743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Bootcamp — Zero to Working Pipeline</dc:title>
  <dc:subject>PptxGenJS Presentation</dc:subject>
  <dc:creator>RAG Bootcamp</dc:creator>
  <cp:lastModifiedBy>RAG Bootcamp</cp:lastModifiedBy>
  <cp:revision>1</cp:revision>
  <dcterms:created xsi:type="dcterms:W3CDTF">2026-06-16T20:39:37Z</dcterms:created>
  <dcterms:modified xsi:type="dcterms:W3CDTF">2026-06-16T20:39:37Z</dcterms:modified>
</cp:coreProperties>
</file>